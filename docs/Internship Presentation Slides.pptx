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embeddedFontLst>
    <p:embeddedFont>
      <p:font typeface="Consolas" panose="020B0609020204030204" pitchFamily="49" charset="0"/>
      <p:regular r:id="rId13"/>
      <p:bold r:id="rId14"/>
      <p:italic r:id="rId15"/>
      <p:boldItalic r:id="rId16"/>
    </p:embeddedFont>
    <p:embeddedFont>
      <p:font typeface="Krona One" panose="020B0604020202020204" charset="0"/>
      <p:regular r:id="rId17"/>
    </p:embeddedFont>
    <p:embeddedFont>
      <p:font typeface="Lexend" panose="020B0604020202020204" charset="0"/>
      <p:regular r:id="rId18"/>
    </p:embeddedFont>
    <p:embeddedFont>
      <p:font typeface="Lexend Bold" panose="020B0604020202020204" charset="0"/>
      <p:regular r:id="rId19"/>
    </p:embeddedFont>
    <p:embeddedFont>
      <p:font typeface="Lexend Medium" panose="020B0604020202020204" charset="0"/>
      <p:regular r:id="rId20"/>
    </p:embeddedFont>
    <p:embeddedFont>
      <p:font typeface="Martian Mono Medium" panose="020B0604020202020204" charset="0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0" d="100"/>
          <a:sy n="70" d="100"/>
        </p:scale>
        <p:origin x="71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88069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hyperlink" Target="https://gamma.app/?utm_source=made-with-gamma" TargetMode="Externa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1515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Image 2" descr="preencoded.png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2">
    <p:bg>
      <p:bgPr>
        <a:solidFill>
          <a:srgbClr val="1515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7380" y="888211"/>
            <a:ext cx="5918052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78" dirty="0">
                <a:solidFill>
                  <a:srgbClr val="FFFFFF"/>
                </a:solidFill>
                <a:latin typeface="Martian Mono Medium" pitchFamily="34" charset="0"/>
                <a:ea typeface="Martian Mono Medium" pitchFamily="34" charset="-122"/>
                <a:cs typeface="Martian Mono Medium" pitchFamily="34" charset="-120"/>
              </a:rPr>
              <a:t>AUSPIFY TECHNOLOGIES · INTERNSHIP SUMMARY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87380" y="1342157"/>
            <a:ext cx="5308467" cy="18927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4600" kern="100" spc="-46" dirty="0">
                <a:solidFill>
                  <a:srgbClr val="FFFFFF"/>
                </a:solidFill>
                <a:latin typeface="Krona One" pitchFamily="34" charset="0"/>
                <a:ea typeface="Krona One" pitchFamily="34" charset="-122"/>
                <a:cs typeface="Krona One" pitchFamily="34" charset="-120"/>
              </a:rPr>
              <a:t>C/C++</a:t>
            </a:r>
            <a:endParaRPr lang="en-US" sz="4600" dirty="0"/>
          </a:p>
          <a:p>
            <a:pPr marL="0" indent="0" algn="l">
              <a:lnSpc>
                <a:spcPct val="90000"/>
              </a:lnSpc>
              <a:buNone/>
            </a:pPr>
            <a:r>
              <a:rPr lang="en-US" sz="4600" kern="100" spc="-46" dirty="0">
                <a:solidFill>
                  <a:srgbClr val="FFFFFF"/>
                </a:solidFill>
                <a:latin typeface="Krona One" pitchFamily="34" charset="0"/>
                <a:ea typeface="Krona One" pitchFamily="34" charset="-122"/>
                <a:cs typeface="Krona One" pitchFamily="34" charset="-120"/>
              </a:rPr>
              <a:t>Development</a:t>
            </a:r>
            <a:endParaRPr lang="en-US" sz="4600" dirty="0"/>
          </a:p>
          <a:p>
            <a:pPr marL="0" indent="0" algn="l">
              <a:lnSpc>
                <a:spcPct val="90000"/>
              </a:lnSpc>
              <a:buNone/>
            </a:pPr>
            <a:r>
              <a:rPr lang="en-US" sz="4600" kern="100" spc="-46" dirty="0">
                <a:solidFill>
                  <a:srgbClr val="FFFFFF"/>
                </a:solidFill>
                <a:latin typeface="Krona One" pitchFamily="34" charset="0"/>
                <a:ea typeface="Krona One" pitchFamily="34" charset="-122"/>
                <a:cs typeface="Krona One" pitchFamily="34" charset="-120"/>
              </a:rPr>
              <a:t>Internship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787379" y="3236563"/>
            <a:ext cx="5308467" cy="82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Project Work and Learning Summary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87378" y="4281167"/>
            <a:ext cx="5308467" cy="396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78" dirty="0">
                <a:solidFill>
                  <a:srgbClr val="FFFFFF"/>
                </a:solidFill>
                <a:latin typeface="Martian Mono Medium" pitchFamily="34" charset="0"/>
                <a:ea typeface="Martian Mono Medium" pitchFamily="34" charset="-122"/>
                <a:cs typeface="Martian Mono Medium" pitchFamily="34" charset="-120"/>
              </a:rPr>
              <a:t>MUHAMMAD IBRAHIM · C/C++ DEVELOPMENT INTERN · 4 WEEKS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7380" y="4898932"/>
            <a:ext cx="5308467" cy="735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spcAft>
                <a:spcPts val="2100"/>
              </a:spcAft>
              <a:buNone/>
            </a:pPr>
            <a:r>
              <a:rPr lang="en-US" sz="1400" kern="100" spc="14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Projects covered: Tasks 3, 4, 5, and 6</a:t>
            </a:r>
            <a:endParaRPr lang="en-US" sz="1400" dirty="0"/>
          </a:p>
          <a:p>
            <a:r>
              <a:rPr lang="en-US" sz="1400" kern="100" spc="14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ID: AT/INT/2034723</a:t>
            </a:r>
            <a:endParaRPr lang="en-US" sz="14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C3E3842-96A0-8353-0F7C-78DA103D06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5630" y="6564573"/>
            <a:ext cx="1096370" cy="2422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26745"/>
            <a:ext cx="1158211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78" dirty="0">
                <a:solidFill>
                  <a:srgbClr val="27E0E3"/>
                </a:solidFill>
                <a:latin typeface="Martian Mono Medium" pitchFamily="34" charset="0"/>
                <a:ea typeface="Martian Mono Medium" pitchFamily="34" charset="-122"/>
                <a:cs typeface="Martian Mono Medium" pitchFamily="34" charset="-120"/>
              </a:rPr>
              <a:t>INTERNSHIP OUTCOME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09585" y="946375"/>
            <a:ext cx="10972526" cy="817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2400" kern="100" spc="-14" dirty="0">
                <a:solidFill>
                  <a:srgbClr val="FFFFFF"/>
                </a:solidFill>
                <a:latin typeface="Krona One" pitchFamily="34" charset="0"/>
                <a:ea typeface="Krona One" pitchFamily="34" charset="-122"/>
                <a:cs typeface="Krona One" pitchFamily="34" charset="-120"/>
              </a:rPr>
              <a:t>The internship turned C++ fundamentals into working console applications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0479" y="2050852"/>
            <a:ext cx="761981" cy="762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4202" y="3003351"/>
            <a:ext cx="2514537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2000" kern="100" spc="-10" dirty="0">
                <a:solidFill>
                  <a:srgbClr val="E6E9FF"/>
                </a:solidFill>
                <a:latin typeface="Lexend Medium" pitchFamily="34" charset="0"/>
                <a:ea typeface="Lexend Medium" pitchFamily="34" charset="-122"/>
                <a:cs typeface="Lexend Medium" pitchFamily="34" charset="-120"/>
              </a:rPr>
              <a:t>Applied fundamentals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914377" y="3857069"/>
            <a:ext cx="2114188" cy="6171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just">
              <a:lnSpc>
                <a:spcPct val="113000"/>
              </a:lnSpc>
              <a:buNone/>
            </a:pPr>
            <a:r>
              <a:rPr lang="en-US" sz="1800" dirty="0">
                <a:solidFill>
                  <a:srgbClr val="E6E9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Used C++ concepts in practical tasks.</a:t>
            </a:r>
            <a:endParaRPr lang="en-US" sz="18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7413" y="2045136"/>
            <a:ext cx="761981" cy="7620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371765" y="3165554"/>
            <a:ext cx="2514537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2000" kern="100" spc="-10" dirty="0">
                <a:solidFill>
                  <a:srgbClr val="E6E9FF"/>
                </a:solidFill>
                <a:latin typeface="Lexend Medium" pitchFamily="34" charset="0"/>
                <a:ea typeface="Lexend Medium" pitchFamily="34" charset="-122"/>
                <a:cs typeface="Lexend Medium" pitchFamily="34" charset="-120"/>
              </a:rPr>
              <a:t>Built console apps</a:t>
            </a:r>
            <a:endParaRPr lang="en-US" sz="2000" dirty="0"/>
          </a:p>
        </p:txBody>
      </p:sp>
      <p:sp>
        <p:nvSpPr>
          <p:cNvPr id="9" name="Text 5"/>
          <p:cNvSpPr/>
          <p:nvPr/>
        </p:nvSpPr>
        <p:spPr>
          <a:xfrm>
            <a:off x="3447712" y="3857069"/>
            <a:ext cx="2381385" cy="6171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just">
              <a:lnSpc>
                <a:spcPct val="113000"/>
              </a:lnSpc>
              <a:buNone/>
            </a:pPr>
            <a:r>
              <a:rPr lang="en-US" sz="1800" dirty="0">
                <a:solidFill>
                  <a:srgbClr val="E6E9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Created menu-driven user interfaces.</a:t>
            </a:r>
            <a:endParaRPr lang="en-US" sz="18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4345" y="2050852"/>
            <a:ext cx="761981" cy="7620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048069" y="3168451"/>
            <a:ext cx="2514537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2000" kern="100" spc="-10" dirty="0">
                <a:solidFill>
                  <a:srgbClr val="E6E9FF"/>
                </a:solidFill>
                <a:latin typeface="Lexend Medium" pitchFamily="34" charset="0"/>
                <a:ea typeface="Lexend Medium" pitchFamily="34" charset="-122"/>
                <a:cs typeface="Lexend Medium" pitchFamily="34" charset="-120"/>
              </a:rPr>
              <a:t>Separated code</a:t>
            </a:r>
            <a:endParaRPr lang="en-US" sz="2000" dirty="0"/>
          </a:p>
        </p:txBody>
      </p:sp>
      <p:sp>
        <p:nvSpPr>
          <p:cNvPr id="12" name="Text 7"/>
          <p:cNvSpPr/>
          <p:nvPr/>
        </p:nvSpPr>
        <p:spPr>
          <a:xfrm>
            <a:off x="6248244" y="3857068"/>
            <a:ext cx="2114189" cy="6171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just">
              <a:lnSpc>
                <a:spcPct val="113000"/>
              </a:lnSpc>
              <a:buNone/>
            </a:pPr>
            <a:r>
              <a:rPr lang="en-US" sz="1800" dirty="0">
                <a:solidFill>
                  <a:srgbClr val="E6E9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Organized source and header files.</a:t>
            </a:r>
            <a:endParaRPr lang="en-US" sz="180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1277" y="2045136"/>
            <a:ext cx="761981" cy="7620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715002" y="3168451"/>
            <a:ext cx="2514537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2000" kern="100" spc="-10" dirty="0">
                <a:solidFill>
                  <a:srgbClr val="E6E9FF"/>
                </a:solidFill>
                <a:latin typeface="Lexend Medium" pitchFamily="34" charset="0"/>
                <a:ea typeface="Lexend Medium" pitchFamily="34" charset="-122"/>
                <a:cs typeface="Lexend Medium" pitchFamily="34" charset="-120"/>
              </a:rPr>
              <a:t>Tested behavior</a:t>
            </a:r>
            <a:endParaRPr lang="en-US" sz="2000" dirty="0"/>
          </a:p>
        </p:txBody>
      </p:sp>
      <p:sp>
        <p:nvSpPr>
          <p:cNvPr id="15" name="Text 9"/>
          <p:cNvSpPr/>
          <p:nvPr/>
        </p:nvSpPr>
        <p:spPr>
          <a:xfrm>
            <a:off x="8781579" y="3857466"/>
            <a:ext cx="2381385" cy="9257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just">
              <a:lnSpc>
                <a:spcPct val="113000"/>
              </a:lnSpc>
              <a:buNone/>
            </a:pPr>
            <a:r>
              <a:rPr lang="en-US" sz="1800" dirty="0">
                <a:solidFill>
                  <a:srgbClr val="E6E9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Checked expected behavior and invalid input.</a:t>
            </a:r>
            <a:endParaRPr lang="en-US" sz="1800" dirty="0"/>
          </a:p>
        </p:txBody>
      </p:sp>
      <p:sp>
        <p:nvSpPr>
          <p:cNvPr id="16" name="Shape 10"/>
          <p:cNvSpPr/>
          <p:nvPr/>
        </p:nvSpPr>
        <p:spPr>
          <a:xfrm>
            <a:off x="609585" y="4897172"/>
            <a:ext cx="10972526" cy="1334083"/>
          </a:xfrm>
          <a:prstGeom prst="roundRect">
            <a:avLst>
              <a:gd name="adj" fmla="val 8077"/>
            </a:avLst>
          </a:prstGeom>
          <a:solidFill>
            <a:srgbClr val="002F80"/>
          </a:solidFill>
          <a:ln/>
        </p:spPr>
      </p:sp>
      <p:sp>
        <p:nvSpPr>
          <p:cNvPr id="17" name="Text 11"/>
          <p:cNvSpPr/>
          <p:nvPr/>
        </p:nvSpPr>
        <p:spPr>
          <a:xfrm>
            <a:off x="914377" y="5152747"/>
            <a:ext cx="10362941" cy="82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Documentation and screenshot evidence supported the project demonstrations.</a:t>
            </a:r>
            <a:endParaRPr lang="en-US" sz="240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D4A9AC75-39AF-8B16-5ECE-32763D108CE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27391" y="6511972"/>
            <a:ext cx="1164609" cy="33274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26745"/>
            <a:ext cx="1158211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78" dirty="0">
                <a:solidFill>
                  <a:srgbClr val="27E0E3"/>
                </a:solidFill>
                <a:latin typeface="Martian Mono Medium" pitchFamily="34" charset="0"/>
                <a:ea typeface="Martian Mono Medium" pitchFamily="34" charset="-122"/>
                <a:cs typeface="Martian Mono Medium" pitchFamily="34" charset="-120"/>
              </a:rPr>
              <a:t>WORKFLOW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09585" y="946375"/>
            <a:ext cx="10972526" cy="817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2400" kern="100" spc="-14" dirty="0">
                <a:solidFill>
                  <a:srgbClr val="FFFFFF"/>
                </a:solidFill>
                <a:latin typeface="Krona One" pitchFamily="34" charset="0"/>
                <a:ea typeface="Krona One" pitchFamily="34" charset="-122"/>
                <a:cs typeface="Krona One" pitchFamily="34" charset="-120"/>
              </a:rPr>
              <a:t>Source files become executable programs through a repeatable workflow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055" y="2909788"/>
            <a:ext cx="5300927" cy="228590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84101" y="3162465"/>
            <a:ext cx="2915091" cy="1837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00" kern="100" spc="-6" dirty="0">
                <a:solidFill>
                  <a:srgbClr val="FFFFFF"/>
                </a:solidFill>
                <a:latin typeface="Krona One" pitchFamily="34" charset="0"/>
                <a:ea typeface="Krona One" pitchFamily="34" charset="-122"/>
                <a:cs typeface="Krona One" pitchFamily="34" charset="-120"/>
              </a:rPr>
              <a:t>Source + headers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984101" y="3692555"/>
            <a:ext cx="2915091" cy="1837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00" kern="100" spc="-6" dirty="0">
                <a:solidFill>
                  <a:srgbClr val="FFFFFF"/>
                </a:solidFill>
                <a:latin typeface="Krona One" pitchFamily="34" charset="0"/>
                <a:ea typeface="Krona One" pitchFamily="34" charset="-122"/>
                <a:cs typeface="Krona One" pitchFamily="34" charset="-120"/>
              </a:rPr>
              <a:t>Compiler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84101" y="4217344"/>
            <a:ext cx="2915091" cy="1837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00" kern="100" spc="-6" dirty="0">
                <a:solidFill>
                  <a:srgbClr val="FFFFFF"/>
                </a:solidFill>
                <a:latin typeface="Krona One" pitchFamily="34" charset="0"/>
                <a:ea typeface="Krona One" pitchFamily="34" charset="-122"/>
                <a:cs typeface="Krona One" pitchFamily="34" charset="-120"/>
              </a:rPr>
              <a:t>Executable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84101" y="4742133"/>
            <a:ext cx="2915091" cy="1837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00" kern="100" spc="-6" dirty="0">
                <a:solidFill>
                  <a:srgbClr val="FFFFFF"/>
                </a:solidFill>
                <a:latin typeface="Krona One" pitchFamily="34" charset="0"/>
                <a:ea typeface="Krona One" pitchFamily="34" charset="-122"/>
                <a:cs typeface="Krona One" pitchFamily="34" charset="-120"/>
              </a:rPr>
              <a:t>Console interaction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48244" y="2050852"/>
            <a:ext cx="2590735" cy="1771452"/>
          </a:xfrm>
          <a:prstGeom prst="rect">
            <a:avLst/>
          </a:prstGeom>
          <a:solidFill>
            <a:srgbClr val="1E1F66"/>
          </a:solidFill>
          <a:ln w="6350">
            <a:solidFill>
              <a:srgbClr val="2878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83188" y="2235812"/>
            <a:ext cx="2355791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78" dirty="0">
                <a:solidFill>
                  <a:srgbClr val="E6E9FF"/>
                </a:solidFill>
                <a:latin typeface="Martian Mono Medium" pitchFamily="34" charset="0"/>
                <a:ea typeface="Martian Mono Medium" pitchFamily="34" charset="-122"/>
                <a:cs typeface="Martian Mono Medium" pitchFamily="34" charset="-120"/>
              </a:rPr>
              <a:t>FILES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83188" y="2618812"/>
            <a:ext cx="1323331" cy="10316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just">
              <a:lnSpc>
                <a:spcPct val="113000"/>
              </a:lnSpc>
              <a:buNone/>
            </a:pPr>
            <a:r>
              <a:rPr lang="en-US" sz="1800" dirty="0">
                <a:solidFill>
                  <a:srgbClr val="E6E9FF"/>
                </a:solidFill>
                <a:highlight>
                  <a:srgbClr val="1E1F66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.cpp</a:t>
            </a:r>
            <a:r>
              <a:rPr lang="en-US" sz="1800" dirty="0">
                <a:solidFill>
                  <a:srgbClr val="E6E9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 source files and </a:t>
            </a:r>
            <a:r>
              <a:rPr lang="en-US" sz="1800" dirty="0">
                <a:solidFill>
                  <a:srgbClr val="E6E9FF"/>
                </a:solidFill>
                <a:highlight>
                  <a:srgbClr val="1E1F66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.h</a:t>
            </a:r>
            <a:r>
              <a:rPr lang="en-US" sz="1800" dirty="0">
                <a:solidFill>
                  <a:srgbClr val="E6E9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 header files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991375" y="2050852"/>
            <a:ext cx="2590735" cy="1771452"/>
          </a:xfrm>
          <a:prstGeom prst="rect">
            <a:avLst/>
          </a:prstGeom>
          <a:solidFill>
            <a:srgbClr val="1E1F66"/>
          </a:solidFill>
          <a:ln w="6350">
            <a:solidFill>
              <a:srgbClr val="2878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226320" y="2236432"/>
            <a:ext cx="2355791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78" dirty="0">
                <a:solidFill>
                  <a:srgbClr val="E6E9FF"/>
                </a:solidFill>
                <a:latin typeface="Martian Mono Medium" pitchFamily="34" charset="0"/>
                <a:ea typeface="Martian Mono Medium" pitchFamily="34" charset="-122"/>
                <a:cs typeface="Martian Mono Medium" pitchFamily="34" charset="-120"/>
              </a:rPr>
              <a:t>TOOLS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9226320" y="2618812"/>
            <a:ext cx="1678242" cy="9257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just">
              <a:lnSpc>
                <a:spcPct val="113000"/>
              </a:lnSpc>
              <a:buNone/>
            </a:pPr>
            <a:r>
              <a:rPr lang="en-US" sz="1800" dirty="0">
                <a:solidFill>
                  <a:srgbClr val="E6E9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C++ with G++ / MinGW where applicable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248244" y="3974703"/>
            <a:ext cx="2590735" cy="2080022"/>
          </a:xfrm>
          <a:prstGeom prst="rect">
            <a:avLst/>
          </a:prstGeom>
          <a:solidFill>
            <a:srgbClr val="1E1F66"/>
          </a:solidFill>
          <a:ln w="6350">
            <a:solidFill>
              <a:srgbClr val="2878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83187" y="4185364"/>
            <a:ext cx="2355791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78" dirty="0">
                <a:solidFill>
                  <a:srgbClr val="E6E9FF"/>
                </a:solidFill>
                <a:latin typeface="Martian Mono Medium" pitchFamily="34" charset="0"/>
                <a:ea typeface="Martian Mono Medium" pitchFamily="34" charset="-122"/>
                <a:cs typeface="Martian Mono Medium" pitchFamily="34" charset="-120"/>
              </a:rPr>
              <a:t>STORAGE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483188" y="4594066"/>
            <a:ext cx="1568991" cy="1234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just">
              <a:lnSpc>
                <a:spcPct val="113000"/>
              </a:lnSpc>
              <a:buNone/>
            </a:pPr>
            <a:r>
              <a:rPr lang="en-US" sz="1800" dirty="0">
                <a:solidFill>
                  <a:srgbClr val="E6E9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Text-file storage where implemented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8991375" y="3974703"/>
            <a:ext cx="2590735" cy="2080022"/>
          </a:xfrm>
          <a:prstGeom prst="rect">
            <a:avLst/>
          </a:prstGeom>
          <a:solidFill>
            <a:srgbClr val="1E1F66"/>
          </a:solidFill>
          <a:ln w="6350">
            <a:solidFill>
              <a:srgbClr val="2878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226320" y="4185411"/>
            <a:ext cx="2355791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78" dirty="0">
                <a:solidFill>
                  <a:srgbClr val="E6E9FF"/>
                </a:solidFill>
                <a:latin typeface="Martian Mono Medium" pitchFamily="34" charset="0"/>
                <a:ea typeface="Martian Mono Medium" pitchFamily="34" charset="-122"/>
                <a:cs typeface="Martian Mono Medium" pitchFamily="34" charset="-120"/>
              </a:rPr>
              <a:t>VERSIONING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9226320" y="4594066"/>
            <a:ext cx="1678243" cy="1234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just">
              <a:lnSpc>
                <a:spcPct val="113000"/>
              </a:lnSpc>
              <a:buNone/>
            </a:pPr>
            <a:r>
              <a:rPr lang="en-US" sz="1800" dirty="0">
                <a:solidFill>
                  <a:srgbClr val="E6E9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Git and GitHub only where completed in the workflow</a:t>
            </a:r>
            <a:endParaRPr lang="en-US" sz="1800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EF1CBFF0-4A87-167F-AF42-7C43E74A34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27391" y="6511972"/>
            <a:ext cx="1164609" cy="33274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26745"/>
            <a:ext cx="5333867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78" dirty="0">
                <a:solidFill>
                  <a:srgbClr val="27E0E3"/>
                </a:solidFill>
                <a:latin typeface="Martian Mono Medium" pitchFamily="34" charset="0"/>
                <a:ea typeface="Martian Mono Medium" pitchFamily="34" charset="-122"/>
                <a:cs typeface="Martian Mono Medium" pitchFamily="34" charset="-120"/>
              </a:rPr>
              <a:t>TASK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09585" y="987663"/>
            <a:ext cx="4724282" cy="11885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400" kern="100" spc="-12" dirty="0">
                <a:solidFill>
                  <a:srgbClr val="E6E9FF"/>
                </a:solidFill>
                <a:latin typeface="Lexend Medium" pitchFamily="34" charset="0"/>
                <a:ea typeface="Lexend Medium" pitchFamily="34" charset="-122"/>
                <a:cs typeface="Lexend Medium" pitchFamily="34" charset="-120"/>
              </a:rPr>
              <a:t>Student records are managed through a modular console system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585" y="2339082"/>
            <a:ext cx="4724282" cy="39048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spcAft>
                <a:spcPts val="2100"/>
              </a:spcAft>
              <a:buNone/>
            </a:pPr>
            <a:r>
              <a:rPr lang="en-US" sz="1800" dirty="0">
                <a:solidFill>
                  <a:srgbClr val="E6E9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Purpose: manage student records in a C++ console application.</a:t>
            </a:r>
            <a:endParaRPr lang="en-US" sz="1800" dirty="0"/>
          </a:p>
          <a:p>
            <a:pPr marL="0" indent="0" algn="l">
              <a:lnSpc>
                <a:spcPct val="113000"/>
              </a:lnSpc>
              <a:spcAft>
                <a:spcPts val="2100"/>
              </a:spcAft>
              <a:buNone/>
            </a:pPr>
            <a:r>
              <a:rPr lang="en-US" sz="1800" dirty="0">
                <a:solidFill>
                  <a:srgbClr val="E6E9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Supported operations include adding, displaying, searching, updating, or deleting records.</a:t>
            </a:r>
            <a:endParaRPr lang="en-US" sz="1800" dirty="0"/>
          </a:p>
          <a:p>
            <a:pPr>
              <a:lnSpc>
                <a:spcPct val="113000"/>
              </a:lnSpc>
              <a:spcAft>
                <a:spcPts val="2100"/>
              </a:spcAft>
            </a:pPr>
            <a:r>
              <a:rPr lang="en-US" sz="1800" dirty="0">
                <a:solidFill>
                  <a:srgbClr val="E6E9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Student data file: </a:t>
            </a:r>
            <a:r>
              <a:rPr lang="en-US" dirty="0">
                <a:solidFill>
                  <a:srgbClr val="E6E9FF"/>
                </a:solidFill>
                <a:highlight>
                  <a:srgbClr val="1E1F66"/>
                </a:highlight>
                <a:latin typeface="Consolas" pitchFamily="34" charset="0"/>
                <a:ea typeface="Lexend" pitchFamily="34" charset="-122"/>
                <a:cs typeface="Lexend" pitchFamily="34" charset="-120"/>
              </a:rPr>
              <a:t>students.txt</a:t>
            </a:r>
            <a:endParaRPr lang="en-US" sz="1800" dirty="0">
              <a:highlight>
                <a:srgbClr val="000080"/>
              </a:highlight>
            </a:endParaRPr>
          </a:p>
          <a:p>
            <a:pPr marL="0" indent="0" algn="l">
              <a:lnSpc>
                <a:spcPct val="113000"/>
              </a:lnSpc>
              <a:buNone/>
            </a:pPr>
            <a:r>
              <a:rPr lang="en-US" sz="1800" dirty="0">
                <a:solidFill>
                  <a:srgbClr val="E6E9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Source separation: </a:t>
            </a:r>
            <a:r>
              <a:rPr lang="en-US" dirty="0">
                <a:solidFill>
                  <a:srgbClr val="E6E9FF"/>
                </a:solidFill>
                <a:highlight>
                  <a:srgbClr val="1E1F66"/>
                </a:highlight>
                <a:latin typeface="Consolas" pitchFamily="34" charset="0"/>
                <a:ea typeface="Lexend" pitchFamily="34" charset="-122"/>
                <a:cs typeface="Lexend" pitchFamily="34" charset="-120"/>
              </a:rPr>
              <a:t>main.cpp</a:t>
            </a:r>
            <a:r>
              <a:rPr lang="en-US" sz="1800" dirty="0">
                <a:solidFill>
                  <a:srgbClr val="E6E9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 · </a:t>
            </a:r>
            <a:r>
              <a:rPr lang="en-US" sz="1800" dirty="0">
                <a:solidFill>
                  <a:srgbClr val="E6E9FF"/>
                </a:solidFill>
                <a:highlight>
                  <a:srgbClr val="1E1F66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Student.cpp</a:t>
            </a:r>
            <a:r>
              <a:rPr lang="en-US" sz="1800" dirty="0">
                <a:solidFill>
                  <a:srgbClr val="E6E9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 · </a:t>
            </a:r>
            <a:r>
              <a:rPr lang="en-US" sz="1800" dirty="0">
                <a:solidFill>
                  <a:srgbClr val="E6E9FF"/>
                </a:solidFill>
                <a:highlight>
                  <a:srgbClr val="1E1F66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Student.h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467413" y="0"/>
            <a:ext cx="4695198" cy="6858000"/>
          </a:xfrm>
          <a:prstGeom prst="rect">
            <a:avLst/>
          </a:prstGeom>
          <a:solidFill>
            <a:srgbClr val="1E1F66"/>
          </a:solidFill>
          <a:ln w="38099">
            <a:solidFill>
              <a:srgbClr val="4D4D84"/>
            </a:solidFill>
            <a:prstDash val="solid"/>
          </a:ln>
        </p:spPr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017156A-2D40-D5C3-B4E7-0602AE1931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6496" y="1234708"/>
            <a:ext cx="4666115" cy="438858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26745"/>
            <a:ext cx="6522577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78" dirty="0">
                <a:solidFill>
                  <a:srgbClr val="27E0E3"/>
                </a:solidFill>
                <a:latin typeface="Martian Mono Medium" pitchFamily="34" charset="0"/>
                <a:ea typeface="Martian Mono Medium" pitchFamily="34" charset="-122"/>
                <a:cs typeface="Martian Mono Medium" pitchFamily="34" charset="-120"/>
              </a:rPr>
              <a:t>TASK 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09585" y="1018981"/>
            <a:ext cx="5912992" cy="1226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2400" kern="100" spc="-14" dirty="0">
                <a:solidFill>
                  <a:srgbClr val="FFFFFF"/>
                </a:solidFill>
                <a:latin typeface="Krona One" pitchFamily="34" charset="0"/>
                <a:ea typeface="Krona One" pitchFamily="34" charset="-122"/>
                <a:cs typeface="Krona One" pitchFamily="34" charset="-120"/>
              </a:rPr>
              <a:t>Library records support practical book-management workflows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584" y="2360629"/>
            <a:ext cx="5912992" cy="82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dirty="0">
                <a:solidFill>
                  <a:srgbClr val="E6E9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Purpose: manage library book records in a C++ console application.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47989" y="3074170"/>
            <a:ext cx="6522577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kern="100" spc="14" dirty="0">
                <a:solidFill>
                  <a:srgbClr val="B9BEEA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Supported operations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09585" y="3425695"/>
            <a:ext cx="5912992" cy="1234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dirty="0">
                <a:solidFill>
                  <a:srgbClr val="E6E9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Adding, displaying, searching, removing, and issue/return.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584" y="5492805"/>
            <a:ext cx="6522577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kern="100" spc="14" dirty="0">
                <a:solidFill>
                  <a:srgbClr val="B9BEEA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Data file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09585" y="4780520"/>
            <a:ext cx="5912992" cy="82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dirty="0">
                <a:solidFill>
                  <a:srgbClr val="E6E9FF"/>
                </a:solidFill>
                <a:highlight>
                  <a:srgbClr val="1E1F66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main.cpp</a:t>
            </a:r>
            <a:r>
              <a:rPr lang="en-US" dirty="0">
                <a:solidFill>
                  <a:srgbClr val="E6E9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 · </a:t>
            </a:r>
            <a:r>
              <a:rPr lang="en-US" dirty="0">
                <a:solidFill>
                  <a:srgbClr val="E6E9FF"/>
                </a:solidFill>
                <a:highlight>
                  <a:srgbClr val="1E1F66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Book.cpp</a:t>
            </a:r>
            <a:r>
              <a:rPr lang="en-US" dirty="0">
                <a:solidFill>
                  <a:srgbClr val="E6E9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 · </a:t>
            </a:r>
            <a:r>
              <a:rPr lang="en-US" dirty="0">
                <a:solidFill>
                  <a:srgbClr val="E6E9FF"/>
                </a:solidFill>
                <a:highlight>
                  <a:srgbClr val="1E1F66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Book.h</a:t>
            </a:r>
            <a:r>
              <a:rPr lang="en-US" dirty="0">
                <a:solidFill>
                  <a:srgbClr val="E6E9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 · </a:t>
            </a:r>
            <a:r>
              <a:rPr lang="en-US" dirty="0">
                <a:solidFill>
                  <a:srgbClr val="E6E9FF"/>
                </a:solidFill>
                <a:highlight>
                  <a:srgbClr val="1E1F66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Library.cpp</a:t>
            </a:r>
            <a:r>
              <a:rPr lang="en-US" dirty="0">
                <a:solidFill>
                  <a:srgbClr val="E6E9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 · </a:t>
            </a:r>
            <a:r>
              <a:rPr lang="en-US" dirty="0">
                <a:solidFill>
                  <a:srgbClr val="E6E9FF"/>
                </a:solidFill>
                <a:highlight>
                  <a:srgbClr val="1E1F66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Library.h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7477423" y="0"/>
            <a:ext cx="4714271" cy="6858000"/>
          </a:xfrm>
          <a:prstGeom prst="roundRect">
            <a:avLst>
              <a:gd name="adj" fmla="val 3205"/>
            </a:avLst>
          </a:prstGeom>
          <a:solidFill>
            <a:srgbClr val="1E1F66"/>
          </a:solidFill>
          <a:ln w="38099">
            <a:solidFill>
              <a:srgbClr val="4D4D84"/>
            </a:solidFill>
            <a:prstDash val="solid"/>
          </a:ln>
          <a:effectLst>
            <a:outerShdw blurRad="201930" dist="127" dir="16200000" algn="bl" rotWithShape="0">
              <a:srgbClr val="2878FF">
                <a:alpha val="40000"/>
              </a:srgbClr>
            </a:outerShdw>
          </a:effectLst>
        </p:spPr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B6B93A27-2DE4-29F8-96ED-C73E061A468C}"/>
              </a:ext>
            </a:extLst>
          </p:cNvPr>
          <p:cNvSpPr/>
          <p:nvPr/>
        </p:nvSpPr>
        <p:spPr>
          <a:xfrm>
            <a:off x="609585" y="4428995"/>
            <a:ext cx="6522577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kern="100" spc="14" dirty="0">
                <a:solidFill>
                  <a:srgbClr val="B9BEEA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Source files</a:t>
            </a:r>
            <a:endParaRPr lang="en-US" sz="1400" dirty="0"/>
          </a:p>
        </p:txBody>
      </p:sp>
      <p:sp>
        <p:nvSpPr>
          <p:cNvPr id="19" name="Text 6">
            <a:extLst>
              <a:ext uri="{FF2B5EF4-FFF2-40B4-BE49-F238E27FC236}">
                <a16:creationId xmlns:a16="http://schemas.microsoft.com/office/drawing/2014/main" id="{5925E93C-9E76-B6C3-9730-B7AFC0286770}"/>
              </a:ext>
            </a:extLst>
          </p:cNvPr>
          <p:cNvSpPr/>
          <p:nvPr/>
        </p:nvSpPr>
        <p:spPr>
          <a:xfrm>
            <a:off x="609585" y="5846518"/>
            <a:ext cx="5912992" cy="82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dirty="0">
                <a:solidFill>
                  <a:srgbClr val="E6E9FF"/>
                </a:solidFill>
                <a:highlight>
                  <a:srgbClr val="1E1F66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Books.txt</a:t>
            </a:r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0181246-B44E-4C9A-EC64-A6BFA40FD0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6624" y="1439204"/>
            <a:ext cx="4675868" cy="419360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10770"/>
            <a:ext cx="11582110" cy="167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66" dirty="0">
                <a:solidFill>
                  <a:srgbClr val="27E0E3"/>
                </a:solidFill>
                <a:latin typeface="Martian Mono Medium" pitchFamily="34" charset="0"/>
                <a:ea typeface="Martian Mono Medium" pitchFamily="34" charset="-122"/>
                <a:cs typeface="Martian Mono Medium" pitchFamily="34" charset="-120"/>
              </a:rPr>
              <a:t>TASK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09585" y="930980"/>
            <a:ext cx="10972526" cy="3465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2400" kern="100" spc="-12" dirty="0">
                <a:solidFill>
                  <a:srgbClr val="FFFFFF"/>
                </a:solidFill>
                <a:latin typeface="Krona One" pitchFamily="34" charset="0"/>
                <a:ea typeface="Krona One" pitchFamily="34" charset="-122"/>
                <a:cs typeface="Krona One" pitchFamily="34" charset="-120"/>
              </a:rPr>
              <a:t>Account operations</a:t>
            </a:r>
          </a:p>
          <a:p>
            <a:pPr marL="0" indent="0" algn="l">
              <a:lnSpc>
                <a:spcPct val="96000"/>
              </a:lnSpc>
              <a:buNone/>
            </a:pPr>
            <a:r>
              <a:rPr lang="en-US" sz="2400" kern="100" spc="-12" dirty="0">
                <a:solidFill>
                  <a:srgbClr val="FFFFFF"/>
                </a:solidFill>
                <a:latin typeface="Krona One" pitchFamily="34" charset="0"/>
                <a:ea typeface="Krona One" pitchFamily="34" charset="-122"/>
                <a:cs typeface="Krona One" pitchFamily="34" charset="-120"/>
              </a:rPr>
              <a:t>demonstrate basic banking</a:t>
            </a:r>
          </a:p>
          <a:p>
            <a:pPr marL="0" indent="0" algn="l">
              <a:lnSpc>
                <a:spcPct val="96000"/>
              </a:lnSpc>
              <a:buNone/>
            </a:pPr>
            <a:r>
              <a:rPr lang="en-US" sz="2400" kern="100" spc="-12" dirty="0">
                <a:solidFill>
                  <a:srgbClr val="FFFFFF"/>
                </a:solidFill>
                <a:latin typeface="Krona One" pitchFamily="34" charset="0"/>
                <a:ea typeface="Krona One" pitchFamily="34" charset="-122"/>
                <a:cs typeface="Krona One" pitchFamily="34" charset="-120"/>
              </a:rPr>
              <a:t>logic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0534" y="2081441"/>
            <a:ext cx="7147747" cy="9664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dirty="0">
                <a:solidFill>
                  <a:srgbClr val="E6E9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Educational console application for account</a:t>
            </a:r>
          </a:p>
          <a:p>
            <a:pPr marL="0" indent="0" algn="l">
              <a:lnSpc>
                <a:spcPct val="104000"/>
              </a:lnSpc>
              <a:buNone/>
            </a:pPr>
            <a:r>
              <a:rPr lang="en-US" dirty="0">
                <a:solidFill>
                  <a:srgbClr val="E6E9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management and balance operations—not a</a:t>
            </a:r>
          </a:p>
          <a:p>
            <a:pPr marL="0" indent="0" algn="l">
              <a:lnSpc>
                <a:spcPct val="104000"/>
              </a:lnSpc>
              <a:buNone/>
            </a:pPr>
            <a:r>
              <a:rPr lang="en-US" dirty="0">
                <a:solidFill>
                  <a:srgbClr val="E6E9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production banking system.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90534" y="3039480"/>
            <a:ext cx="7315017" cy="1958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kern="100" spc="12" dirty="0">
                <a:solidFill>
                  <a:srgbClr val="B9BEEA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Supported operations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0534" y="3329056"/>
            <a:ext cx="6705432" cy="966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dirty="0">
                <a:solidFill>
                  <a:srgbClr val="E6E9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Creating or managing accounts, displaying information, deposits, and withdrawals.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28940" y="4295546"/>
            <a:ext cx="7315017" cy="1958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kern="100" spc="12" dirty="0">
                <a:solidFill>
                  <a:srgbClr val="B9BEEA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Source files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8940" y="4650234"/>
            <a:ext cx="7315017" cy="322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dirty="0">
                <a:solidFill>
                  <a:srgbClr val="E6E9FF"/>
                </a:solidFill>
                <a:highlight>
                  <a:srgbClr val="1E1F66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main.cpp</a:t>
            </a:r>
            <a:r>
              <a:rPr lang="en-US" dirty="0">
                <a:solidFill>
                  <a:srgbClr val="E6E9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 · </a:t>
            </a:r>
            <a:r>
              <a:rPr lang="en-US" dirty="0">
                <a:solidFill>
                  <a:srgbClr val="E6E9FF"/>
                </a:solidFill>
                <a:highlight>
                  <a:srgbClr val="1E1F66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Account.cpp</a:t>
            </a:r>
            <a:r>
              <a:rPr lang="en-US" dirty="0">
                <a:solidFill>
                  <a:srgbClr val="E6E9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 · </a:t>
            </a:r>
            <a:r>
              <a:rPr lang="en-US" dirty="0">
                <a:solidFill>
                  <a:srgbClr val="E6E9FF"/>
                </a:solidFill>
                <a:highlight>
                  <a:srgbClr val="1E1F66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Account.h</a:t>
            </a:r>
            <a:r>
              <a:rPr lang="en-US" dirty="0">
                <a:solidFill>
                  <a:srgbClr val="E6E9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 · </a:t>
            </a:r>
            <a:r>
              <a:rPr lang="en-US" dirty="0">
                <a:solidFill>
                  <a:srgbClr val="E6E9FF"/>
                </a:solidFill>
                <a:highlight>
                  <a:srgbClr val="1E1F66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Bank.cpp</a:t>
            </a:r>
            <a:r>
              <a:rPr lang="en-US" dirty="0">
                <a:solidFill>
                  <a:srgbClr val="E6E9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 · </a:t>
            </a:r>
            <a:r>
              <a:rPr lang="en-US" dirty="0">
                <a:solidFill>
                  <a:srgbClr val="E6E9FF"/>
                </a:solidFill>
                <a:highlight>
                  <a:srgbClr val="1E1F66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Bank.h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28940" y="5135459"/>
            <a:ext cx="7315017" cy="1958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kern="100" spc="12" dirty="0">
                <a:solidFill>
                  <a:srgbClr val="B9BEEA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Data file: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465325" y="0"/>
            <a:ext cx="4726371" cy="6858000"/>
          </a:xfrm>
          <a:prstGeom prst="roundRect">
            <a:avLst>
              <a:gd name="adj" fmla="val 4651"/>
            </a:avLst>
          </a:prstGeom>
          <a:solidFill>
            <a:srgbClr val="1E1F66"/>
          </a:solidFill>
          <a:ln w="19050">
            <a:solidFill>
              <a:srgbClr val="2878FF"/>
            </a:solidFill>
            <a:prstDash val="solid"/>
          </a:ln>
          <a:effectLst>
            <a:outerShdw blurRad="201930" dist="127" dir="16200000" algn="bl" rotWithShape="0">
              <a:srgbClr val="2878FF">
                <a:alpha val="40000"/>
              </a:srgbClr>
            </a:outerShdw>
          </a:effectLst>
        </p:spPr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E82223-319E-2287-D515-ECC256C34054}"/>
              </a:ext>
            </a:extLst>
          </p:cNvPr>
          <p:cNvSpPr txBox="1"/>
          <p:nvPr/>
        </p:nvSpPr>
        <p:spPr>
          <a:xfrm>
            <a:off x="590534" y="5371522"/>
            <a:ext cx="6202906" cy="3681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dirty="0">
                <a:solidFill>
                  <a:srgbClr val="E6E9FF"/>
                </a:solidFill>
                <a:highlight>
                  <a:srgbClr val="1E1F66"/>
                </a:highlight>
                <a:latin typeface="Consolas" pitchFamily="34" charset="0"/>
                <a:ea typeface="Lexend" pitchFamily="34" charset="-122"/>
                <a:cs typeface="Lexend" pitchFamily="34" charset="-120"/>
              </a:rPr>
              <a:t>accounts.txt</a:t>
            </a:r>
            <a:endParaRPr lang="en-US" sz="180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DF94667-46F9-9612-0CA5-86DABB85CC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2891" y="1302421"/>
            <a:ext cx="4651237" cy="425315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09600"/>
            <a:ext cx="11582110" cy="1940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76" dirty="0">
                <a:solidFill>
                  <a:srgbClr val="27E0E3"/>
                </a:solidFill>
                <a:latin typeface="Martian Mono Medium" pitchFamily="34" charset="0"/>
                <a:ea typeface="Martian Mono Medium" pitchFamily="34" charset="-122"/>
                <a:cs typeface="Martian Mono Medium" pitchFamily="34" charset="-120"/>
              </a:rPr>
              <a:t>TASK 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09585" y="956634"/>
            <a:ext cx="5486415" cy="11418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2400" kern="100" spc="-14" dirty="0">
                <a:solidFill>
                  <a:srgbClr val="FFFFFF"/>
                </a:solidFill>
                <a:latin typeface="Krona One" pitchFamily="34" charset="0"/>
                <a:ea typeface="Krona One" pitchFamily="34" charset="-122"/>
                <a:cs typeface="Krona One" pitchFamily="34" charset="-120"/>
              </a:rPr>
              <a:t>Expression evaluation</a:t>
            </a:r>
          </a:p>
          <a:p>
            <a:pPr marL="0" indent="0" algn="l">
              <a:lnSpc>
                <a:spcPct val="96000"/>
              </a:lnSpc>
              <a:buNone/>
            </a:pPr>
            <a:r>
              <a:rPr lang="en-US" sz="2400" kern="100" spc="-14" dirty="0">
                <a:solidFill>
                  <a:srgbClr val="FFFFFF"/>
                </a:solidFill>
                <a:latin typeface="Krona One" pitchFamily="34" charset="0"/>
                <a:ea typeface="Krona One" pitchFamily="34" charset="-122"/>
                <a:cs typeface="Krona One" pitchFamily="34" charset="-120"/>
              </a:rPr>
              <a:t>depends on parsing and</a:t>
            </a:r>
          </a:p>
          <a:p>
            <a:pPr marL="0" indent="0" algn="l">
              <a:lnSpc>
                <a:spcPct val="96000"/>
              </a:lnSpc>
              <a:buNone/>
            </a:pPr>
            <a:r>
              <a:rPr lang="en-US" sz="2400" kern="100" spc="-14" dirty="0">
                <a:solidFill>
                  <a:srgbClr val="FFFFFF"/>
                </a:solidFill>
                <a:latin typeface="Krona One" pitchFamily="34" charset="0"/>
                <a:ea typeface="Krona One" pitchFamily="34" charset="-122"/>
                <a:cs typeface="Krona One" pitchFamily="34" charset="-120"/>
              </a:rPr>
              <a:t>precedence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585" y="2251260"/>
            <a:ext cx="5257668" cy="2792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b="1" dirty="0">
                <a:solidFill>
                  <a:srgbClr val="E6E9FF"/>
                </a:solidFill>
                <a:latin typeface="Lexend Bold" pitchFamily="34" charset="0"/>
                <a:ea typeface="Lexend Bold" pitchFamily="34" charset="-122"/>
                <a:cs typeface="Lexend Bold" pitchFamily="34" charset="-120"/>
              </a:rPr>
              <a:t>Evaluate arithmetic expressions in C++.</a:t>
            </a:r>
            <a:r>
              <a:rPr lang="en-US" dirty="0">
                <a:solidFill>
                  <a:srgbClr val="E6E9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 Handle operator precedence and grouped expressions where supported.</a:t>
            </a:r>
          </a:p>
          <a:p>
            <a:pPr marL="0" indent="0" algn="l">
              <a:lnSpc>
                <a:spcPct val="111000"/>
              </a:lnSpc>
              <a:buNone/>
            </a:pPr>
            <a:r>
              <a:rPr lang="en-US" b="1" dirty="0">
                <a:solidFill>
                  <a:srgbClr val="E6E9FF"/>
                </a:solidFill>
                <a:latin typeface="Lexend Bold" pitchFamily="34" charset="0"/>
                <a:ea typeface="Lexend Bold" pitchFamily="34" charset="-122"/>
                <a:cs typeface="Lexend Bold" pitchFamily="34" charset="-120"/>
              </a:rPr>
              <a:t>Validation:</a:t>
            </a:r>
            <a:r>
              <a:rPr lang="en-US" dirty="0">
                <a:solidFill>
                  <a:srgbClr val="E6E9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 Validate malformed input and handle division by zero where implemented.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09585" y="3980551"/>
            <a:ext cx="5257668" cy="2263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kern="100" spc="14" dirty="0">
                <a:solidFill>
                  <a:srgbClr val="B9BEEA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Illustrative expression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09585" y="4396381"/>
            <a:ext cx="5257668" cy="4052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dirty="0">
                <a:solidFill>
                  <a:srgbClr val="E6E9FF"/>
                </a:solidFill>
                <a:highlight>
                  <a:srgbClr val="1E1F66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[4 + {5 - (6 * 8)}] / 9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585" y="4958701"/>
            <a:ext cx="5257668" cy="4526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kern="100" spc="14" dirty="0">
                <a:solidFill>
                  <a:srgbClr val="B9BEEA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Use only operators, bracket types, and error conditions supported by the final code.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451677" y="0"/>
            <a:ext cx="4740017" cy="6858000"/>
          </a:xfrm>
          <a:prstGeom prst="roundRect">
            <a:avLst>
              <a:gd name="adj" fmla="val 3145"/>
            </a:avLst>
          </a:prstGeom>
          <a:solidFill>
            <a:srgbClr val="1E1F66"/>
          </a:solidFill>
          <a:ln w="6350">
            <a:solidFill>
              <a:srgbClr val="2878FF"/>
            </a:solidFill>
            <a:prstDash val="solid"/>
          </a:ln>
          <a:effectLst>
            <a:outerShdw blurRad="201930" dist="127" dir="16200000" algn="bl" rotWithShape="0">
              <a:srgbClr val="2878FF">
                <a:alpha val="40000"/>
              </a:srgbClr>
            </a:outerShdw>
          </a:effectLst>
        </p:spPr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7A892A4-A3F4-E159-F0F0-97A248CCFF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5427" y="1749707"/>
            <a:ext cx="4712516" cy="335858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24997"/>
            <a:ext cx="11582110" cy="1669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66" dirty="0">
                <a:solidFill>
                  <a:srgbClr val="27E0E3"/>
                </a:solidFill>
                <a:latin typeface="Martian Mono Medium" pitchFamily="34" charset="0"/>
                <a:ea typeface="Martian Mono Medium" pitchFamily="34" charset="-122"/>
                <a:cs typeface="Martian Mono Medium" pitchFamily="34" charset="-120"/>
              </a:rPr>
              <a:t>DEMONSTRATION AND TESTING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09585" y="1035744"/>
            <a:ext cx="10972526" cy="689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2400" kern="100" spc="-12" dirty="0">
                <a:solidFill>
                  <a:srgbClr val="FFFFFF"/>
                </a:solidFill>
                <a:latin typeface="Krona One" pitchFamily="34" charset="0"/>
                <a:ea typeface="Krona One" pitchFamily="34" charset="-122"/>
                <a:cs typeface="Krona One" pitchFamily="34" charset="-120"/>
              </a:rPr>
              <a:t>Project demonstrations pair real evidence with a disciplined testing approach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585" y="1876492"/>
            <a:ext cx="5333867" cy="2120305"/>
          </a:xfrm>
          <a:prstGeom prst="roundRect">
            <a:avLst>
              <a:gd name="adj" fmla="val 5089"/>
            </a:avLst>
          </a:prstGeom>
          <a:solidFill>
            <a:srgbClr val="1E1F66"/>
          </a:solidFill>
          <a:ln w="25399">
            <a:solidFill>
              <a:srgbClr val="4D4D8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3578" y="2078292"/>
            <a:ext cx="5079873" cy="1669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kern="100" spc="66" dirty="0">
                <a:solidFill>
                  <a:srgbClr val="E6E9FF"/>
                </a:solidFill>
                <a:latin typeface="Martian Mono Medium" pitchFamily="34" charset="0"/>
                <a:ea typeface="Martian Mono Medium" pitchFamily="34" charset="-122"/>
                <a:cs typeface="Martian Mono Medium" pitchFamily="34" charset="-120"/>
              </a:rPr>
              <a:t>DEMONSTRATION 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48244" y="1876492"/>
            <a:ext cx="5333867" cy="2120305"/>
          </a:xfrm>
          <a:prstGeom prst="roundRect">
            <a:avLst>
              <a:gd name="adj" fmla="val 5089"/>
            </a:avLst>
          </a:prstGeom>
          <a:solidFill>
            <a:srgbClr val="1E1F66"/>
          </a:solidFill>
          <a:ln w="25399">
            <a:solidFill>
              <a:srgbClr val="4D4D8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02237" y="2078292"/>
            <a:ext cx="5079873" cy="1669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kern="100" spc="66" dirty="0">
                <a:solidFill>
                  <a:srgbClr val="E6E9FF"/>
                </a:solidFill>
                <a:latin typeface="Martian Mono Medium" pitchFamily="34" charset="0"/>
                <a:ea typeface="Martian Mono Medium" pitchFamily="34" charset="-122"/>
                <a:cs typeface="Martian Mono Medium" pitchFamily="34" charset="-120"/>
              </a:rPr>
              <a:t>DEMONSTRATION 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09585" y="4202163"/>
            <a:ext cx="10972526" cy="334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en-US" sz="2400" kern="100" spc="-10" dirty="0">
                <a:solidFill>
                  <a:srgbClr val="E6E9FF"/>
                </a:solidFill>
                <a:latin typeface="Lexend Medium" pitchFamily="34" charset="0"/>
                <a:ea typeface="Lexend Medium" pitchFamily="34" charset="-122"/>
                <a:cs typeface="Lexend Medium" pitchFamily="34" charset="-120"/>
              </a:rPr>
              <a:t>Testing approach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09585" y="4793173"/>
            <a:ext cx="5333867" cy="13324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406400" indent="-406400" algn="l">
              <a:lnSpc>
                <a:spcPct val="104000"/>
              </a:lnSpc>
              <a:buSzPct val="100000"/>
              <a:buChar char="•"/>
            </a:pPr>
            <a:r>
              <a:rPr lang="en-US" dirty="0">
                <a:solidFill>
                  <a:srgbClr val="E6E9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Compile and run the main workflows.</a:t>
            </a:r>
            <a:endParaRPr lang="en-US" dirty="0"/>
          </a:p>
          <a:p>
            <a:pPr marL="406400" indent="-406400" algn="l">
              <a:lnSpc>
                <a:spcPct val="104000"/>
              </a:lnSpc>
              <a:buSzPct val="100000"/>
              <a:buChar char="•"/>
            </a:pPr>
            <a:r>
              <a:rPr lang="en-US" dirty="0">
                <a:solidFill>
                  <a:srgbClr val="E6E9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Verify menu options, record handling, and text-file persistence where applicable.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248242" y="4797326"/>
            <a:ext cx="5333867" cy="9587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406400" indent="-406400" algn="l">
              <a:lnSpc>
                <a:spcPct val="104000"/>
              </a:lnSpc>
              <a:buSzPct val="100000"/>
              <a:buChar char="•"/>
            </a:pPr>
            <a:r>
              <a:rPr lang="en-US" dirty="0">
                <a:solidFill>
                  <a:srgbClr val="E6E9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Test invalid input, expression edge cases, and the intended working directory.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AE7C5A11-CE55-DB15-9A06-401FBFAD0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9236" y="2396653"/>
            <a:ext cx="2216339" cy="1471787"/>
          </a:xfrm>
          <a:prstGeom prst="rect">
            <a:avLst/>
          </a:prstGeom>
        </p:spPr>
      </p:pic>
      <p:pic>
        <p:nvPicPr>
          <p:cNvPr id="19" name="Picture 18" descr="GitHub - manelpb/inventory-management-system: Simple inventory management  system using C# Console Application · GitHub">
            <a:extLst>
              <a:ext uri="{FF2B5EF4-FFF2-40B4-BE49-F238E27FC236}">
                <a16:creationId xmlns:a16="http://schemas.microsoft.com/office/drawing/2014/main" id="{BE972092-BD52-6855-3591-9FF9B8124F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5879" y="2376741"/>
            <a:ext cx="3169249" cy="149169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5781D45-DA9B-C8F3-199A-5C50452F42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27391" y="6511972"/>
            <a:ext cx="1164609" cy="33274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26745"/>
            <a:ext cx="1158211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78" dirty="0">
                <a:solidFill>
                  <a:srgbClr val="27E0E3"/>
                </a:solidFill>
                <a:latin typeface="Martian Mono Medium" pitchFamily="34" charset="0"/>
                <a:ea typeface="Martian Mono Medium" pitchFamily="34" charset="-122"/>
                <a:cs typeface="Martian Mono Medium" pitchFamily="34" charset="-120"/>
              </a:rPr>
              <a:t>LEARNING OUTCOMES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09585" y="1028939"/>
            <a:ext cx="10972526" cy="817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2400" kern="100" spc="-14" dirty="0">
                <a:solidFill>
                  <a:srgbClr val="FFFFFF"/>
                </a:solidFill>
                <a:latin typeface="Krona One" pitchFamily="34" charset="0"/>
                <a:ea typeface="Krona One" pitchFamily="34" charset="-122"/>
                <a:cs typeface="Krona One" pitchFamily="34" charset="-120"/>
              </a:rPr>
              <a:t>Challenges became practical learning outcomes in C++ development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85" y="2050852"/>
            <a:ext cx="690942" cy="69095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29071" y="2063551"/>
            <a:ext cx="4490628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000" kern="100" spc="-10" dirty="0">
                <a:solidFill>
                  <a:srgbClr val="E6E9FF"/>
                </a:solidFill>
                <a:latin typeface="Lexend Medium" pitchFamily="34" charset="0"/>
                <a:ea typeface="Lexend Medium" pitchFamily="34" charset="-122"/>
                <a:cs typeface="Lexend Medium" pitchFamily="34" charset="-120"/>
              </a:rPr>
              <a:t>Expression processing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1529071" y="2485552"/>
            <a:ext cx="4490628" cy="6171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800" dirty="0">
                <a:solidFill>
                  <a:srgbClr val="E6E9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Grouped expressions · operator precedence · parsing · evaluation logic</a:t>
            </a:r>
            <a:endParaRPr lang="en-US" sz="18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85" y="3395067"/>
            <a:ext cx="690942" cy="69095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29071" y="3395017"/>
            <a:ext cx="4490628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000" kern="100" spc="-10" dirty="0">
                <a:solidFill>
                  <a:srgbClr val="E6E9FF"/>
                </a:solidFill>
                <a:latin typeface="Lexend Medium" pitchFamily="34" charset="0"/>
                <a:ea typeface="Lexend Medium" pitchFamily="34" charset="-122"/>
                <a:cs typeface="Lexend Medium" pitchFamily="34" charset="-120"/>
              </a:rPr>
              <a:t>File handling</a:t>
            </a:r>
            <a:endParaRPr lang="en-US" sz="2000" dirty="0"/>
          </a:p>
        </p:txBody>
      </p:sp>
      <p:sp>
        <p:nvSpPr>
          <p:cNvPr id="9" name="Text 5"/>
          <p:cNvSpPr/>
          <p:nvPr/>
        </p:nvSpPr>
        <p:spPr>
          <a:xfrm>
            <a:off x="1529071" y="3823394"/>
            <a:ext cx="4490628" cy="6171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800" dirty="0">
                <a:solidFill>
                  <a:srgbClr val="E6E9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Text-file records where applicable · relative paths · working directories</a:t>
            </a:r>
            <a:endParaRPr lang="en-US" sz="18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8244" y="2050852"/>
            <a:ext cx="690942" cy="690959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167731" y="2063551"/>
            <a:ext cx="4490628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000" kern="100" spc="-10" dirty="0">
                <a:solidFill>
                  <a:srgbClr val="E6E9FF"/>
                </a:solidFill>
                <a:latin typeface="Lexend Medium" pitchFamily="34" charset="0"/>
                <a:ea typeface="Lexend Medium" pitchFamily="34" charset="-122"/>
                <a:cs typeface="Lexend Medium" pitchFamily="34" charset="-120"/>
              </a:rPr>
              <a:t>Input validation</a:t>
            </a:r>
            <a:endParaRPr lang="en-US" sz="2000" dirty="0"/>
          </a:p>
        </p:txBody>
      </p:sp>
      <p:sp>
        <p:nvSpPr>
          <p:cNvPr id="12" name="Text 7"/>
          <p:cNvSpPr/>
          <p:nvPr/>
        </p:nvSpPr>
        <p:spPr>
          <a:xfrm>
            <a:off x="7167731" y="2485552"/>
            <a:ext cx="4490628" cy="6171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800" dirty="0">
                <a:solidFill>
                  <a:srgbClr val="E6E9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Unexpected console input · error handling · reliability</a:t>
            </a:r>
            <a:endParaRPr lang="en-US" sz="180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244" y="3395067"/>
            <a:ext cx="690942" cy="690959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7167731" y="3395017"/>
            <a:ext cx="4490628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000" kern="100" spc="-10" dirty="0">
                <a:solidFill>
                  <a:srgbClr val="E6E9FF"/>
                </a:solidFill>
                <a:latin typeface="Lexend Medium" pitchFamily="34" charset="0"/>
                <a:ea typeface="Lexend Medium" pitchFamily="34" charset="-122"/>
                <a:cs typeface="Lexend Medium" pitchFamily="34" charset="-120"/>
              </a:rPr>
              <a:t>Modular C++ design</a:t>
            </a:r>
            <a:endParaRPr lang="en-US" sz="2000" dirty="0"/>
          </a:p>
        </p:txBody>
      </p:sp>
      <p:sp>
        <p:nvSpPr>
          <p:cNvPr id="15" name="Text 9"/>
          <p:cNvSpPr/>
          <p:nvPr/>
        </p:nvSpPr>
        <p:spPr>
          <a:xfrm>
            <a:off x="7167731" y="3818458"/>
            <a:ext cx="4490628" cy="9257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800" dirty="0">
                <a:solidFill>
                  <a:srgbClr val="E6E9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Classes · functions · source files · headers · object-oriented programming · separation of responsibilities</a:t>
            </a:r>
            <a:endParaRPr lang="en-US" sz="1800" dirty="0"/>
          </a:p>
        </p:txBody>
      </p:sp>
      <p:sp>
        <p:nvSpPr>
          <p:cNvPr id="16" name="Shape 10"/>
          <p:cNvSpPr/>
          <p:nvPr/>
        </p:nvSpPr>
        <p:spPr>
          <a:xfrm>
            <a:off x="609585" y="5185310"/>
            <a:ext cx="10972526" cy="1045945"/>
          </a:xfrm>
          <a:prstGeom prst="rect">
            <a:avLst/>
          </a:prstGeom>
          <a:solidFill>
            <a:srgbClr val="1E1F66"/>
          </a:solidFill>
          <a:ln/>
        </p:spPr>
      </p:sp>
      <p:sp>
        <p:nvSpPr>
          <p:cNvPr id="17" name="Text 11"/>
          <p:cNvSpPr/>
          <p:nvPr/>
        </p:nvSpPr>
        <p:spPr>
          <a:xfrm>
            <a:off x="812780" y="5389923"/>
            <a:ext cx="10769331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78" dirty="0">
                <a:solidFill>
                  <a:srgbClr val="E6E9FF"/>
                </a:solidFill>
                <a:latin typeface="Martian Mono Medium" pitchFamily="34" charset="0"/>
                <a:ea typeface="Martian Mono Medium" pitchFamily="34" charset="-122"/>
                <a:cs typeface="Martian Mono Medium" pitchFamily="34" charset="-120"/>
              </a:rPr>
              <a:t>SKILLS DEVELOPED</a:t>
            </a:r>
            <a:endParaRPr lang="en-US" sz="1300" dirty="0"/>
          </a:p>
        </p:txBody>
      </p:sp>
      <p:sp>
        <p:nvSpPr>
          <p:cNvPr id="18" name="Text 12"/>
          <p:cNvSpPr/>
          <p:nvPr/>
        </p:nvSpPr>
        <p:spPr>
          <a:xfrm>
            <a:off x="812780" y="5708282"/>
            <a:ext cx="10769331" cy="308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800" dirty="0">
                <a:solidFill>
                  <a:srgbClr val="E6E9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C++ </a:t>
            </a:r>
            <a:r>
              <a:rPr lang="en-US" dirty="0">
                <a:solidFill>
                  <a:srgbClr val="E6E9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(OOP and DSA)</a:t>
            </a:r>
            <a:r>
              <a:rPr lang="en-US" sz="1800" dirty="0">
                <a:solidFill>
                  <a:srgbClr val="E6E9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 · debugging · testing · technical documentation · project presentation</a:t>
            </a:r>
            <a:endParaRPr lang="en-US" sz="18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E5303E05-F36A-2E71-8AC3-1EF3D3552D2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27391" y="6511972"/>
            <a:ext cx="1164609" cy="33274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017" cy="6867624"/>
          </a:xfrm>
          <a:prstGeom prst="rect">
            <a:avLst/>
          </a:prstGeom>
          <a:solidFill>
            <a:srgbClr val="1E1F66"/>
          </a:solidFill>
          <a:ln/>
        </p:spPr>
      </p:sp>
      <p:sp>
        <p:nvSpPr>
          <p:cNvPr id="3" name="Text 1"/>
          <p:cNvSpPr/>
          <p:nvPr/>
        </p:nvSpPr>
        <p:spPr>
          <a:xfrm>
            <a:off x="609585" y="626745"/>
            <a:ext cx="6705432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78" dirty="0">
                <a:solidFill>
                  <a:srgbClr val="E6E9FF"/>
                </a:solidFill>
                <a:latin typeface="Martian Mono Medium" pitchFamily="34" charset="0"/>
                <a:ea typeface="Martian Mono Medium" pitchFamily="34" charset="-122"/>
                <a:cs typeface="Martian Mono Medium" pitchFamily="34" charset="-120"/>
              </a:rPr>
              <a:t>CLOSING SUMMARY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09585" y="1023224"/>
            <a:ext cx="6095848" cy="16355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2400" kern="100" spc="-14" dirty="0">
                <a:solidFill>
                  <a:srgbClr val="E6E9FF"/>
                </a:solidFill>
                <a:latin typeface="Krona One" pitchFamily="34" charset="0"/>
                <a:ea typeface="Krona One" pitchFamily="34" charset="-122"/>
                <a:cs typeface="Krona One" pitchFamily="34" charset="-120"/>
              </a:rPr>
              <a:t>Four console applications created a practical foundation for continued development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09585" y="2552235"/>
            <a:ext cx="6095848" cy="411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2400" b="1" dirty="0">
                <a:solidFill>
                  <a:srgbClr val="E6E9FF"/>
                </a:solidFill>
                <a:latin typeface="Lexend Bold" pitchFamily="34" charset="0"/>
                <a:ea typeface="Lexend Bold" pitchFamily="34" charset="-122"/>
                <a:cs typeface="Lexend Bold" pitchFamily="34" charset="-120"/>
              </a:rPr>
              <a:t>Student Management System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09585" y="3166895"/>
            <a:ext cx="6095848" cy="411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2400" b="1" dirty="0">
                <a:solidFill>
                  <a:srgbClr val="E6E9FF"/>
                </a:solidFill>
                <a:latin typeface="Lexend Bold" pitchFamily="34" charset="0"/>
                <a:ea typeface="Lexend Bold" pitchFamily="34" charset="-122"/>
                <a:cs typeface="Lexend Bold" pitchFamily="34" charset="-120"/>
              </a:rPr>
              <a:t>Library Management System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09584" y="3775360"/>
            <a:ext cx="6095848" cy="411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2400" b="1" dirty="0">
                <a:solidFill>
                  <a:srgbClr val="E6E9FF"/>
                </a:solidFill>
                <a:latin typeface="Lexend Bold" pitchFamily="34" charset="0"/>
                <a:ea typeface="Lexend Bold" pitchFamily="34" charset="-122"/>
                <a:cs typeface="Lexend Bold" pitchFamily="34" charset="-120"/>
              </a:rPr>
              <a:t>Banking Management System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09584" y="4391788"/>
            <a:ext cx="6095848" cy="411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2400" b="1" dirty="0">
                <a:solidFill>
                  <a:srgbClr val="E6E9FF"/>
                </a:solidFill>
                <a:latin typeface="Lexend Bold" pitchFamily="34" charset="0"/>
                <a:ea typeface="Lexend Bold" pitchFamily="34" charset="-122"/>
                <a:cs typeface="Lexend Bold" pitchFamily="34" charset="-120"/>
              </a:rPr>
              <a:t>Expression Evaluator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90536" y="5324648"/>
            <a:ext cx="6705432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kern="100" spc="14" dirty="0">
                <a:solidFill>
                  <a:srgbClr val="E6E9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GitHub Repository URL: 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0536" y="5747120"/>
            <a:ext cx="6705432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78" dirty="0">
                <a:solidFill>
                  <a:srgbClr val="E6E9FF"/>
                </a:solidFill>
                <a:latin typeface="Martian Mono Medium" pitchFamily="34" charset="0"/>
                <a:ea typeface="Martian Mono Medium" pitchFamily="34" charset="-122"/>
                <a:cs typeface="Martian Mono Medium" pitchFamily="34" charset="-120"/>
              </a:rPr>
              <a:t>MUHAMMAD IBRAHIM — C/C++ DEVELOPMENT INTERN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017" y="0"/>
            <a:ext cx="4876678" cy="6867624"/>
          </a:xfrm>
          <a:prstGeom prst="roundRect">
            <a:avLst>
              <a:gd name="adj" fmla="val 3125"/>
            </a:avLst>
          </a:prstGeom>
          <a:noFill/>
          <a:ln w="19050">
            <a:solidFill>
              <a:srgbClr val="2878FF"/>
            </a:solidFill>
            <a:prstDash val="solid"/>
          </a:ln>
          <a:effectLst>
            <a:outerShdw blurRad="201930" dist="127" dir="16200000" algn="bl" rotWithShape="0">
              <a:srgbClr val="2878FF">
                <a:alpha val="40000"/>
              </a:srgbClr>
            </a:outerShdw>
          </a:effectLst>
        </p:spPr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067" y="19050"/>
            <a:ext cx="4838579" cy="682952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</TotalTime>
  <Words>592</Words>
  <Application>Microsoft Office PowerPoint</Application>
  <PresentationFormat>Widescreen</PresentationFormat>
  <Paragraphs>108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Lexend</vt:lpstr>
      <vt:lpstr>Consolas</vt:lpstr>
      <vt:lpstr>Krona One</vt:lpstr>
      <vt:lpstr>Lexend Medium</vt:lpstr>
      <vt:lpstr>Lexend Bold</vt:lpstr>
      <vt:lpstr>Arial</vt:lpstr>
      <vt:lpstr>Martian Mono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Muhammad Ibrahim</cp:lastModifiedBy>
  <cp:revision>23</cp:revision>
  <dcterms:created xsi:type="dcterms:W3CDTF">2026-10-17T14:41:19Z</dcterms:created>
  <dcterms:modified xsi:type="dcterms:W3CDTF">2026-10-17T17:21:41Z</dcterms:modified>
</cp:coreProperties>
</file>